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Merriweather"/>
      <p:regular r:id="rId7"/>
      <p:bold r:id="rId8"/>
      <p:italic r:id="rId9"/>
      <p:boldItalic r:id="rId10"/>
    </p:embeddedFont>
    <p:embeddedFont>
      <p:font typeface="DM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-regular.fntdata"/><Relationship Id="rId10" Type="http://schemas.openxmlformats.org/officeDocument/2006/relationships/font" Target="fonts/Merriweather-boldItalic.fntdata"/><Relationship Id="rId13" Type="http://schemas.openxmlformats.org/officeDocument/2006/relationships/font" Target="fonts/DMSans-italic.fntdata"/><Relationship Id="rId12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erriweather-italic.fntdata"/><Relationship Id="rId14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erriweather-regular.fntdata"/><Relationship Id="rId8" Type="http://schemas.openxmlformats.org/officeDocument/2006/relationships/font" Target="fonts/Merriweath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621" y="370400"/>
            <a:ext cx="5299549" cy="2980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038" y="1161194"/>
            <a:ext cx="929556" cy="1813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1101" y="1161194"/>
            <a:ext cx="1703593" cy="1813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38202" y="1161194"/>
            <a:ext cx="929556" cy="18134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1266" y="1161194"/>
            <a:ext cx="929556" cy="181343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83470" y="1473639"/>
            <a:ext cx="758700" cy="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Pond Genotype</a:t>
            </a:r>
            <a:endParaRPr sz="609"/>
          </a:p>
        </p:txBody>
      </p:sp>
      <p:sp>
        <p:nvSpPr>
          <p:cNvPr id="90" name="Google Shape;90;p13"/>
          <p:cNvSpPr txBox="1"/>
          <p:nvPr/>
        </p:nvSpPr>
        <p:spPr>
          <a:xfrm>
            <a:off x="801523" y="1714492"/>
            <a:ext cx="7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Encodes the 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aquacultural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policy, defining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maximum initial 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fishes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quantity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interval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and 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drop-location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for </a:t>
            </a:r>
            <a:r>
              <a:rPr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Food, 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Probiotic and</a:t>
            </a:r>
            <a:r>
              <a:rPr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Oxygen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609"/>
          </a:p>
        </p:txBody>
      </p:sp>
      <p:sp>
        <p:nvSpPr>
          <p:cNvPr id="91" name="Google Shape;91;p13"/>
          <p:cNvSpPr txBox="1"/>
          <p:nvPr/>
        </p:nvSpPr>
        <p:spPr>
          <a:xfrm>
            <a:off x="2109011" y="1473639"/>
            <a:ext cx="947700" cy="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Fitness Evaluation</a:t>
            </a:r>
            <a:endParaRPr sz="609"/>
          </a:p>
        </p:txBody>
      </p:sp>
      <p:sp>
        <p:nvSpPr>
          <p:cNvPr id="92" name="Google Shape;92;p13"/>
          <p:cNvSpPr txBox="1"/>
          <p:nvPr/>
        </p:nvSpPr>
        <p:spPr>
          <a:xfrm>
            <a:off x="1802181" y="1668069"/>
            <a:ext cx="1496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Quantifies performance through weighted sum of biological yield, economic savings, and average swarm health.</a:t>
            </a:r>
            <a:endParaRPr sz="609"/>
          </a:p>
        </p:txBody>
      </p:sp>
      <p:sp>
        <p:nvSpPr>
          <p:cNvPr id="93" name="Google Shape;93;p13"/>
          <p:cNvSpPr txBox="1"/>
          <p:nvPr/>
        </p:nvSpPr>
        <p:spPr>
          <a:xfrm>
            <a:off x="3623634" y="1473639"/>
            <a:ext cx="758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Selection Method</a:t>
            </a:r>
            <a:endParaRPr sz="609"/>
          </a:p>
        </p:txBody>
      </p:sp>
      <p:sp>
        <p:nvSpPr>
          <p:cNvPr id="94" name="Google Shape;94;p13"/>
          <p:cNvSpPr txBox="1"/>
          <p:nvPr/>
        </p:nvSpPr>
        <p:spPr>
          <a:xfrm>
            <a:off x="3641698" y="1774738"/>
            <a:ext cx="7227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Preserves top best 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using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Elitism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= 20%)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unchanged. Remaining parents selected via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Tournament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(k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= 4</a:t>
            </a:r>
            <a:r>
              <a:rPr b="1"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0%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to balance diversity and selective pressure.</a:t>
            </a:r>
            <a:endParaRPr sz="609"/>
          </a:p>
        </p:txBody>
      </p:sp>
      <p:sp>
        <p:nvSpPr>
          <p:cNvPr id="95" name="Google Shape;95;p13"/>
          <p:cNvSpPr txBox="1"/>
          <p:nvPr/>
        </p:nvSpPr>
        <p:spPr>
          <a:xfrm>
            <a:off x="4656698" y="1473639"/>
            <a:ext cx="758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Genetic Variation</a:t>
            </a:r>
            <a:endParaRPr sz="609"/>
          </a:p>
        </p:txBody>
      </p:sp>
      <p:sp>
        <p:nvSpPr>
          <p:cNvPr id="96" name="Google Shape;96;p13"/>
          <p:cNvSpPr txBox="1"/>
          <p:nvPr/>
        </p:nvSpPr>
        <p:spPr>
          <a:xfrm>
            <a:off x="4674762" y="1774738"/>
            <a:ext cx="72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Introduces novelty through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50% independent Crossover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 and a </a:t>
            </a:r>
            <a:r>
              <a:rPr b="1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25% Mutation rate</a:t>
            </a:r>
            <a:r>
              <a:rPr b="0" i="0" lang="en-US" sz="522" u="none" cap="none" strike="noStrike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, randomizing genes to explore the global </a:t>
            </a:r>
            <a:r>
              <a:rPr lang="en-US" sz="522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optimal.</a:t>
            </a:r>
            <a:endParaRPr sz="609"/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2102" y="1269200"/>
            <a:ext cx="161471" cy="182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02157" y="1269200"/>
            <a:ext cx="161471" cy="182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22240" y="1269200"/>
            <a:ext cx="161471" cy="182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44953" y="1269200"/>
            <a:ext cx="182172" cy="182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698038" y="618817"/>
            <a:ext cx="50427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6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Evolutionary Algorithm Strategy</a:t>
            </a:r>
            <a:endParaRPr sz="609"/>
          </a:p>
        </p:txBody>
      </p:sp>
      <p:grpSp>
        <p:nvGrpSpPr>
          <p:cNvPr id="102" name="Google Shape;102;p13"/>
          <p:cNvGrpSpPr/>
          <p:nvPr/>
        </p:nvGrpSpPr>
        <p:grpSpPr>
          <a:xfrm>
            <a:off x="1867045" y="2063158"/>
            <a:ext cx="1431695" cy="676332"/>
            <a:chOff x="3181350" y="4055030"/>
            <a:chExt cx="3448206" cy="2190904"/>
          </a:xfrm>
        </p:grpSpPr>
        <p:sp>
          <p:nvSpPr>
            <p:cNvPr id="103" name="Google Shape;103;p13"/>
            <p:cNvSpPr/>
            <p:nvPr/>
          </p:nvSpPr>
          <p:spPr>
            <a:xfrm>
              <a:off x="3181350" y="4055034"/>
              <a:ext cx="3448200" cy="2190900"/>
            </a:xfrm>
            <a:prstGeom prst="roundRect">
              <a:avLst>
                <a:gd fmla="val 4348" name="adj"/>
              </a:avLst>
            </a:prstGeom>
            <a:solidFill>
              <a:srgbClr val="1A3A5F">
                <a:alpha val="80000"/>
              </a:srgbClr>
            </a:solidFill>
            <a:ln cap="flat" cmpd="sng" w="5950">
              <a:solidFill>
                <a:srgbClr val="F3F0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9"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3181356" y="4055030"/>
              <a:ext cx="34482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59325" lIns="59325" spcFirstLastPara="1" rIns="59325" wrap="square" tIns="59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15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Fitness Scoring Formula</a:t>
              </a:r>
              <a:endParaRPr b="0" sz="415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374"/>
                </a:spcBef>
                <a:spcAft>
                  <a:spcPts val="0"/>
                </a:spcAft>
                <a:buNone/>
              </a:pPr>
              <a:r>
                <a:rPr b="1" lang="en-US" sz="540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Fitness = </a:t>
              </a:r>
              <a:r>
                <a:rPr b="1" lang="en-US" sz="540">
                  <a:solidFill>
                    <a:srgbClr val="60A5F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0.55</a:t>
              </a:r>
              <a:r>
                <a:rPr b="1" lang="en-US" sz="540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× Yield + </a:t>
              </a:r>
              <a:r>
                <a:rPr b="1" lang="en-US" sz="540">
                  <a:solidFill>
                    <a:srgbClr val="34D39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0.33</a:t>
              </a:r>
              <a:r>
                <a:rPr b="1" lang="en-US" sz="540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× Saving_Rate + </a:t>
              </a:r>
              <a:r>
                <a:rPr b="1" lang="en-US" sz="540">
                  <a:solidFill>
                    <a:srgbClr val="F8717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0.12</a:t>
              </a:r>
              <a:r>
                <a:rPr b="1" lang="en-US" sz="540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× Healthiness</a:t>
              </a:r>
              <a:endParaRPr b="1" sz="54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spcBef>
                  <a:spcPts val="374"/>
                </a:spcBef>
                <a:spcAft>
                  <a:spcPts val="0"/>
                </a:spcAft>
                <a:buNone/>
              </a:pPr>
              <a:r>
                <a:rPr b="1" lang="en-US" sz="374">
                  <a:solidFill>
                    <a:srgbClr val="60A5FA"/>
                  </a:solidFill>
                  <a:latin typeface="DM Sans"/>
                  <a:ea typeface="DM Sans"/>
                  <a:cs typeface="DM Sans"/>
                  <a:sym typeface="DM Sans"/>
                </a:rPr>
                <a:t>● Yield (55%):</a:t>
              </a:r>
              <a:r>
                <a:rPr b="0"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Aim to </a:t>
              </a:r>
              <a:r>
                <a:rPr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produce maximum living fish</a:t>
              </a:r>
              <a:endParaRPr b="0" sz="374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5"/>
                </a:spcBef>
                <a:spcAft>
                  <a:spcPts val="0"/>
                </a:spcAft>
                <a:buNone/>
              </a:pPr>
              <a:r>
                <a:rPr b="1" lang="en-US" sz="374">
                  <a:solidFill>
                    <a:srgbClr val="34D399"/>
                  </a:solidFill>
                  <a:latin typeface="DM Sans"/>
                  <a:ea typeface="DM Sans"/>
                  <a:cs typeface="DM Sans"/>
                  <a:sym typeface="DM Sans"/>
                </a:rPr>
                <a:t>● Saving_Rate (33%):</a:t>
              </a:r>
              <a:r>
                <a:rPr b="0"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Spend as little as possible</a:t>
              </a:r>
              <a:endParaRPr b="0" sz="374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5"/>
                </a:spcBef>
                <a:spcAft>
                  <a:spcPts val="0"/>
                </a:spcAft>
                <a:buNone/>
              </a:pPr>
              <a:r>
                <a:rPr b="1" lang="en-US" sz="374">
                  <a:solidFill>
                    <a:srgbClr val="F87171"/>
                  </a:solidFill>
                  <a:latin typeface="DM Sans"/>
                  <a:ea typeface="DM Sans"/>
                  <a:cs typeface="DM Sans"/>
                  <a:sym typeface="DM Sans"/>
                </a:rPr>
                <a:t>● Healthiness (12%):</a:t>
              </a:r>
              <a:r>
                <a:rPr b="0"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74">
                  <a:solidFill>
                    <a:srgbClr val="CDD6E2"/>
                  </a:solidFill>
                  <a:latin typeface="DM Sans"/>
                  <a:ea typeface="DM Sans"/>
                  <a:cs typeface="DM Sans"/>
                  <a:sym typeface="DM Sans"/>
                </a:rPr>
                <a:t>Survivors should be in good condition</a:t>
              </a:r>
              <a:endParaRPr b="0" sz="374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