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embeddedFontLst>
    <p:embeddedFont>
      <p:font typeface="DM Sans" pitchFamily="2" charset="77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277">
          <p15:clr>
            <a:srgbClr val="A4A3A4"/>
          </p15:clr>
        </p15:guide>
        <p15:guide id="2" pos="687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ew3NGIIwXHYOywuues5XDB50r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21" d="100"/>
          <a:sy n="21" d="100"/>
        </p:scale>
        <p:origin x="3304" y="272"/>
      </p:cViewPr>
      <p:guideLst>
        <p:guide orient="horz" pos="9277"/>
        <p:guide pos="6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font" Target="fonts/font2.fntdata"/><Relationship Id="rId23" Type="http://schemas.openxmlformats.org/officeDocument/2006/relationships/presProps" Target="presProps.xml"/><Relationship Id="rId4" Type="http://schemas.openxmlformats.org/officeDocument/2006/relationships/font" Target="fonts/font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5888" y="0"/>
            <a:ext cx="22186901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608463"/>
            <a:ext cx="219456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30240288"/>
            <a:ext cx="81597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685800" y="356158"/>
            <a:ext cx="20651229" cy="326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667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685800" y="2691799"/>
            <a:ext cx="20651229" cy="188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–"/>
              <a:defRPr sz="8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711200" algn="l" rtl="0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Font typeface="Arial"/>
              <a:buChar char="•"/>
              <a:defRPr sz="7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»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11395948" y="30145415"/>
            <a:ext cx="9941081" cy="214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–"/>
              <a:defRPr sz="8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711200" algn="l" rtl="0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Font typeface="Arial"/>
              <a:buChar char="•"/>
              <a:defRPr sz="7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»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35000" algn="l" rtl="0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3"/>
          </p:nvPr>
        </p:nvSpPr>
        <p:spPr>
          <a:xfrm>
            <a:off x="685800" y="5428857"/>
            <a:ext cx="9904176" cy="2323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67"/>
              <a:buFont typeface="Arial"/>
              <a:buNone/>
              <a:defRPr sz="3867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4846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933"/>
              <a:buFont typeface="Arial"/>
              <a:buChar char="•"/>
              <a:defRPr sz="2933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667"/>
              <a:buFont typeface="Arial"/>
              <a:buChar char="»"/>
              <a:defRPr sz="2667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4"/>
          </p:nvPr>
        </p:nvSpPr>
        <p:spPr>
          <a:xfrm>
            <a:off x="11287010" y="5428857"/>
            <a:ext cx="10050019" cy="2323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67"/>
              <a:buFont typeface="Arial"/>
              <a:buNone/>
              <a:defRPr sz="3867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4846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933"/>
              <a:buFont typeface="Arial"/>
              <a:buChar char="•"/>
              <a:defRPr sz="2933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5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667"/>
              <a:buFont typeface="Arial"/>
              <a:buChar char="»"/>
              <a:defRPr sz="2667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92709" algn="l" rtl="0">
              <a:spcBef>
                <a:spcPts val="1147"/>
              </a:spcBef>
              <a:spcAft>
                <a:spcPts val="0"/>
              </a:spcAft>
              <a:buClr>
                <a:schemeClr val="dk1"/>
              </a:buClr>
              <a:buSzPts val="5734"/>
              <a:buFont typeface="Arial"/>
              <a:buChar char="•"/>
              <a:defRPr sz="57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6C3">
            <a:alpha val="40000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1096963" y="1317625"/>
            <a:ext cx="19751675" cy="3044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675" y="0"/>
            <a:ext cx="22177925" cy="45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7402600" y="5160900"/>
            <a:ext cx="6645900" cy="601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4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95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453238" y="190400"/>
            <a:ext cx="54498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/>
              <a:t>AquaOptima</a:t>
            </a:r>
            <a:endParaRPr sz="7000"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453238" y="3307915"/>
            <a:ext cx="7473796" cy="666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000" i="1"/>
              <a:t>Ahmed Ghazi and Leon Hoang</a:t>
            </a:r>
            <a:endParaRPr sz="4000" i="1"/>
          </a:p>
        </p:txBody>
      </p:sp>
      <p:sp>
        <p:nvSpPr>
          <p:cNvPr id="116" name="Google Shape;116;p2"/>
          <p:cNvSpPr txBox="1"/>
          <p:nvPr/>
        </p:nvSpPr>
        <p:spPr>
          <a:xfrm>
            <a:off x="857250" y="1611313"/>
            <a:ext cx="201199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endParaRPr sz="4800" b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53238" y="1700394"/>
            <a:ext cx="9970922" cy="127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45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Applying PSO and EA to simulate and optimize Largemouth Bass Aquaculture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799796" y="5179696"/>
            <a:ext cx="6359700" cy="601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4291725" y="5160850"/>
            <a:ext cx="6985200" cy="6036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692166" y="5516443"/>
            <a:ext cx="406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The PSO Works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916710" y="5402767"/>
            <a:ext cx="3725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The EA Works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2794017" y="5262784"/>
            <a:ext cx="2371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747938" y="11419872"/>
            <a:ext cx="6359700" cy="382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2815904" y="11456124"/>
            <a:ext cx="1983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83512" y="12200887"/>
            <a:ext cx="5935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AquaOptima is an aquaculture simulation that pairs Particle Swarm Optimization to model how a swarm of Largemouth Bass survives a 3D pond, with an Evolutionary Algorithm that selects the best ponds with policy that yield the best outcome.</a:t>
            </a:r>
            <a:endParaRPr sz="2100"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76" y="19547551"/>
            <a:ext cx="21013821" cy="100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/>
          <p:nvPr/>
        </p:nvSpPr>
        <p:spPr>
          <a:xfrm>
            <a:off x="3520175" y="21846318"/>
            <a:ext cx="16713000" cy="2099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6CFE8"/>
              </a:gs>
              <a:gs pos="46000">
                <a:srgbClr val="798FCA"/>
              </a:gs>
              <a:gs pos="100000">
                <a:srgbClr val="354B87"/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4538009" y="21892361"/>
            <a:ext cx="14677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Aquatic Ecosystem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7323014" y="11419872"/>
            <a:ext cx="13948800" cy="382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776179" y="12249044"/>
            <a:ext cx="2674500" cy="2645700"/>
          </a:xfrm>
          <a:prstGeom prst="rect">
            <a:avLst/>
          </a:prstGeom>
          <a:solidFill>
            <a:srgbClr val="FCF8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1689330" y="12235986"/>
            <a:ext cx="5170200" cy="2658900"/>
          </a:xfrm>
          <a:prstGeom prst="rect">
            <a:avLst/>
          </a:prstGeom>
          <a:solidFill>
            <a:srgbClr val="FCF8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8117797" y="12249044"/>
            <a:ext cx="2674500" cy="2645700"/>
          </a:xfrm>
          <a:prstGeom prst="rect">
            <a:avLst/>
          </a:prstGeom>
          <a:solidFill>
            <a:srgbClr val="FCF8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1435688" y="11526113"/>
            <a:ext cx="572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Flow Diagram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7776179" y="12249044"/>
            <a:ext cx="109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1678270" y="12235986"/>
            <a:ext cx="109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2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8086967" y="12249044"/>
            <a:ext cx="109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3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11750402" y="13174614"/>
            <a:ext cx="1376400" cy="65640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13628738" y="13174614"/>
            <a:ext cx="1376400" cy="65640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15426441" y="13161650"/>
            <a:ext cx="1376400" cy="65640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1750387" y="13169895"/>
            <a:ext cx="134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Ponds Population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3567681" y="13168250"/>
            <a:ext cx="147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PSO Simulation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15655186" y="13152154"/>
            <a:ext cx="91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Fitness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3609288" y="13397560"/>
            <a:ext cx="140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 in each pond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5474757" y="13394472"/>
            <a:ext cx="129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Yield, Saving, and Healthiness</a:t>
            </a:r>
            <a:endParaRPr/>
          </a:p>
        </p:txBody>
      </p:sp>
      <p:cxnSp>
        <p:nvCxnSpPr>
          <p:cNvPr id="145" name="Google Shape;145;p2"/>
          <p:cNvCxnSpPr>
            <a:stCxn id="130" idx="3"/>
            <a:endCxn id="131" idx="1"/>
          </p:cNvCxnSpPr>
          <p:nvPr/>
        </p:nvCxnSpPr>
        <p:spPr>
          <a:xfrm rot="10800000" flipH="1">
            <a:off x="10450679" y="13565294"/>
            <a:ext cx="1238700" cy="6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6" name="Google Shape;146;p2"/>
          <p:cNvCxnSpPr/>
          <p:nvPr/>
        </p:nvCxnSpPr>
        <p:spPr>
          <a:xfrm>
            <a:off x="16890214" y="13565393"/>
            <a:ext cx="1227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7" name="Google Shape;147;p2"/>
          <p:cNvCxnSpPr>
            <a:stCxn id="137" idx="3"/>
            <a:endCxn id="138" idx="1"/>
          </p:cNvCxnSpPr>
          <p:nvPr/>
        </p:nvCxnSpPr>
        <p:spPr>
          <a:xfrm>
            <a:off x="13126802" y="13502814"/>
            <a:ext cx="501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8" name="Google Shape;148;p2"/>
          <p:cNvCxnSpPr/>
          <p:nvPr/>
        </p:nvCxnSpPr>
        <p:spPr>
          <a:xfrm>
            <a:off x="15019171" y="13502885"/>
            <a:ext cx="444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9" name="Google Shape;149;p2"/>
          <p:cNvCxnSpPr>
            <a:stCxn id="144" idx="2"/>
            <a:endCxn id="150" idx="3"/>
          </p:cNvCxnSpPr>
          <p:nvPr/>
        </p:nvCxnSpPr>
        <p:spPr>
          <a:xfrm rot="5400000">
            <a:off x="15723607" y="13935072"/>
            <a:ext cx="479100" cy="3213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1" name="Google Shape;151;p2"/>
          <p:cNvSpPr txBox="1"/>
          <p:nvPr/>
        </p:nvSpPr>
        <p:spPr>
          <a:xfrm>
            <a:off x="12501593" y="12665603"/>
            <a:ext cx="36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 Loop (G Generations)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18318749" y="12767850"/>
            <a:ext cx="213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Convergence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18207297" y="13210470"/>
            <a:ext cx="249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converged pond (solution) at the last generations is chosen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983498" y="5834748"/>
            <a:ext cx="59352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Largemouth bass</a:t>
            </a:r>
            <a:r>
              <a:rPr lang="en-US" sz="2100">
                <a:solidFill>
                  <a:schemeClr val="dk1"/>
                </a:solidFill>
              </a:rPr>
              <a:t>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aquaculture is a growing global industry [1, 4] facing environmental hurdles like poor winter survival [2] and biological threats such as external columnaris [3].</a:t>
            </a:r>
            <a:r>
              <a:rPr lang="en-US" sz="2100">
                <a:solidFill>
                  <a:schemeClr val="dk1"/>
                </a:solidFill>
              </a:rPr>
              <a:t>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combat disease and improve yields, farmers often use dietary supplements to boost fish immunity, metabolism, and growth [6].</a:t>
            </a:r>
            <a:r>
              <a:rPr lang="en-US" sz="2100"/>
              <a:t>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uniquely fascinating challenge in cultivating this species is its highly predatory nature, which frequently leads to intracohort cannibalism [5]. Driven by morphological constraints in young (Age-0) fish, this cannibalistic behavior requires active swarm management and optimal environmental policies to ensure population health and operational profitability [5].</a:t>
            </a:r>
            <a:endParaRPr sz="2100"/>
          </a:p>
        </p:txBody>
      </p:sp>
      <p:sp>
        <p:nvSpPr>
          <p:cNvPr id="155" name="Google Shape;155;p2"/>
          <p:cNvSpPr txBox="1"/>
          <p:nvPr/>
        </p:nvSpPr>
        <p:spPr>
          <a:xfrm>
            <a:off x="9219149" y="29840634"/>
            <a:ext cx="12726600" cy="29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5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An Environmental Impact Assessment of Largemouth Bass 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Micropterus salmoides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Aquaculture in Hangzhou, China.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Comparison of the survival rate of largemouth bass 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Micropterus salmoides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fingerlings during the winter period in ponds and a wintering complex in the northern part of Ukraine.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Controlling Mortality Caused by External Columnaris in Largemouth Bass and Bluegill with Chloramine-T or Hydrogen Peroxide.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Largemouth Bass Aquaculture.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 Morphological Constraints on Intracohort Cannibalism in Age-0 Largemouth Bass.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[6] Multiple effects of dietary supplementation with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Lactobacillus reuteri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Bacillus subtilis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the growth, immunity, and metabolism of largemouth bass 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Micropterus salmoides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14426063" y="14006974"/>
            <a:ext cx="1376400" cy="65640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4618487" y="14002255"/>
            <a:ext cx="96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14375880" y="14226085"/>
            <a:ext cx="140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Elitism &amp; Tournament</a:t>
            </a:r>
            <a:endParaRPr/>
          </a:p>
        </p:txBody>
      </p:sp>
      <p:cxnSp>
        <p:nvCxnSpPr>
          <p:cNvPr id="158" name="Google Shape;158;p2"/>
          <p:cNvCxnSpPr>
            <a:endCxn id="159" idx="3"/>
          </p:cNvCxnSpPr>
          <p:nvPr/>
        </p:nvCxnSpPr>
        <p:spPr>
          <a:xfrm flipH="1">
            <a:off x="14011491" y="14331387"/>
            <a:ext cx="388800" cy="600"/>
          </a:xfrm>
          <a:prstGeom prst="bentConnector3">
            <a:avLst>
              <a:gd name="adj1" fmla="val 50014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9" name="Google Shape;159;p2"/>
          <p:cNvSpPr/>
          <p:nvPr/>
        </p:nvSpPr>
        <p:spPr>
          <a:xfrm>
            <a:off x="12635091" y="14003787"/>
            <a:ext cx="1376400" cy="65640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2639257" y="14048141"/>
            <a:ext cx="13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Crossover and Mutation</a:t>
            </a:r>
            <a:endParaRPr/>
          </a:p>
        </p:txBody>
      </p:sp>
      <p:pic>
        <p:nvPicPr>
          <p:cNvPr id="161" name="Google Shape;161;p2" descr="Largemouth Bass PNG Transparent Images Free Download | Vector Files |  Pngtre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590437">
            <a:off x="11930492" y="-1057452"/>
            <a:ext cx="8830008" cy="88300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"/>
          <p:cNvCxnSpPr>
            <a:stCxn id="159" idx="1"/>
          </p:cNvCxnSpPr>
          <p:nvPr/>
        </p:nvCxnSpPr>
        <p:spPr>
          <a:xfrm rot="10800000">
            <a:off x="12401391" y="13855287"/>
            <a:ext cx="233700" cy="4767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63" name="Google Shape;163;p2"/>
          <p:cNvSpPr txBox="1"/>
          <p:nvPr/>
        </p:nvSpPr>
        <p:spPr>
          <a:xfrm>
            <a:off x="8321661" y="12665603"/>
            <a:ext cx="15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7854704" y="13084391"/>
            <a:ext cx="2495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desire configurations (max_budget, pond’s size, aquaculture days, etc…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a fish swarm with random traits.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N Ponds with random genotypes</a:t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799796" y="15471023"/>
            <a:ext cx="6359700" cy="382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3301565" y="15513505"/>
            <a:ext cx="135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 1</a:t>
            </a:r>
            <a:endParaRPr/>
          </a:p>
        </p:txBody>
      </p:sp>
      <p:sp>
        <p:nvSpPr>
          <p:cNvPr id="167" name="Google Shape;167;p2"/>
          <p:cNvSpPr/>
          <p:nvPr/>
        </p:nvSpPr>
        <p:spPr>
          <a:xfrm>
            <a:off x="7353757" y="15467310"/>
            <a:ext cx="6774300" cy="382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10392051" y="15513605"/>
            <a:ext cx="135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 </a:t>
            </a:r>
            <a:r>
              <a:rPr lang="en-US" sz="3200" u="sng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169" name="Google Shape;169;p2"/>
          <p:cNvSpPr/>
          <p:nvPr/>
        </p:nvSpPr>
        <p:spPr>
          <a:xfrm>
            <a:off x="14286611" y="15450174"/>
            <a:ext cx="6985200" cy="382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17106319" y="15513621"/>
            <a:ext cx="135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 </a:t>
            </a:r>
            <a:r>
              <a:rPr lang="en-US" sz="3200" u="sng">
                <a:solidFill>
                  <a:schemeClr val="dk1"/>
                </a:solidFill>
              </a:rPr>
              <a:t>3</a:t>
            </a:r>
            <a:endParaRPr/>
          </a:p>
        </p:txBody>
      </p:sp>
      <p:pic>
        <p:nvPicPr>
          <p:cNvPr id="171" name="Google Shape;17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6551" y="6908960"/>
            <a:ext cx="6038001" cy="38283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2" name="Google Shape;172;p2"/>
          <p:cNvSpPr/>
          <p:nvPr/>
        </p:nvSpPr>
        <p:spPr>
          <a:xfrm>
            <a:off x="14659850" y="9004513"/>
            <a:ext cx="6238800" cy="1681200"/>
          </a:xfrm>
          <a:prstGeom prst="rect">
            <a:avLst/>
          </a:prstGeom>
          <a:solidFill>
            <a:srgbClr val="FDF8F2"/>
          </a:solidFill>
          <a:ln w="95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"/>
          <p:cNvSpPr/>
          <p:nvPr/>
        </p:nvSpPr>
        <p:spPr>
          <a:xfrm>
            <a:off x="14659850" y="6252950"/>
            <a:ext cx="1906200" cy="2349000"/>
          </a:xfrm>
          <a:prstGeom prst="rect">
            <a:avLst/>
          </a:prstGeom>
          <a:solidFill>
            <a:srgbClr val="FDF8F2"/>
          </a:solidFill>
          <a:ln w="95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"/>
          <p:cNvSpPr/>
          <p:nvPr/>
        </p:nvSpPr>
        <p:spPr>
          <a:xfrm>
            <a:off x="16826150" y="6252950"/>
            <a:ext cx="1906200" cy="2349000"/>
          </a:xfrm>
          <a:prstGeom prst="rect">
            <a:avLst/>
          </a:prstGeom>
          <a:solidFill>
            <a:srgbClr val="FDF8F2"/>
          </a:solidFill>
          <a:ln w="95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"/>
          <p:cNvSpPr/>
          <p:nvPr/>
        </p:nvSpPr>
        <p:spPr>
          <a:xfrm>
            <a:off x="18992450" y="6252950"/>
            <a:ext cx="1906200" cy="2349000"/>
          </a:xfrm>
          <a:prstGeom prst="rect">
            <a:avLst/>
          </a:prstGeom>
          <a:solidFill>
            <a:srgbClr val="FDF8F2"/>
          </a:solidFill>
          <a:ln w="95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14716700" y="6252950"/>
            <a:ext cx="179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Pond Genotype</a:t>
            </a:r>
            <a:endParaRPr sz="1800" u="sng"/>
          </a:p>
        </p:txBody>
      </p:sp>
      <p:sp>
        <p:nvSpPr>
          <p:cNvPr id="177" name="Google Shape;177;p2"/>
          <p:cNvSpPr txBox="1"/>
          <p:nvPr/>
        </p:nvSpPr>
        <p:spPr>
          <a:xfrm>
            <a:off x="14700950" y="6647150"/>
            <a:ext cx="18240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Encodes the aquacultural policy, defining maximum initial fishes, quantity, interval, and drop-location for Food, Probiotic and Oxygen.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78" name="Google Shape;178;p2"/>
          <p:cNvSpPr txBox="1"/>
          <p:nvPr/>
        </p:nvSpPr>
        <p:spPr>
          <a:xfrm>
            <a:off x="16792675" y="6252950"/>
            <a:ext cx="198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Selection Method</a:t>
            </a:r>
            <a:endParaRPr sz="1800" u="sng"/>
          </a:p>
        </p:txBody>
      </p:sp>
      <p:sp>
        <p:nvSpPr>
          <p:cNvPr id="179" name="Google Shape;179;p2"/>
          <p:cNvSpPr txBox="1"/>
          <p:nvPr/>
        </p:nvSpPr>
        <p:spPr>
          <a:xfrm>
            <a:off x="16795325" y="6619538"/>
            <a:ext cx="19293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Preserves top best using Elitism (k = 20%) unchanged. Remaining parents selected via Tournament (k = 40%) to balance diversity and selective pressure.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80" name="Google Shape;180;p2"/>
          <p:cNvSpPr txBox="1"/>
          <p:nvPr/>
        </p:nvSpPr>
        <p:spPr>
          <a:xfrm>
            <a:off x="18953900" y="6252950"/>
            <a:ext cx="198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Generic Variation</a:t>
            </a:r>
            <a:endParaRPr sz="1800" u="sng"/>
          </a:p>
        </p:txBody>
      </p:sp>
      <p:sp>
        <p:nvSpPr>
          <p:cNvPr id="181" name="Google Shape;181;p2"/>
          <p:cNvSpPr txBox="1"/>
          <p:nvPr/>
        </p:nvSpPr>
        <p:spPr>
          <a:xfrm>
            <a:off x="19007925" y="6647150"/>
            <a:ext cx="19062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Introduces novelty through 50% independent Crossover and a 25% Mutation rate, randomizing genes to explore the global optimal.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82" name="Google Shape;182;p2"/>
          <p:cNvSpPr txBox="1"/>
          <p:nvPr/>
        </p:nvSpPr>
        <p:spPr>
          <a:xfrm>
            <a:off x="14659850" y="8966638"/>
            <a:ext cx="208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Fitness Evaluation</a:t>
            </a:r>
            <a:endParaRPr sz="1800" u="sng"/>
          </a:p>
        </p:txBody>
      </p:sp>
      <p:sp>
        <p:nvSpPr>
          <p:cNvPr id="183" name="Google Shape;183;p2"/>
          <p:cNvSpPr/>
          <p:nvPr/>
        </p:nvSpPr>
        <p:spPr>
          <a:xfrm>
            <a:off x="17716350" y="9136375"/>
            <a:ext cx="2823300" cy="1417500"/>
          </a:xfrm>
          <a:prstGeom prst="rect">
            <a:avLst/>
          </a:prstGeom>
          <a:solidFill>
            <a:srgbClr val="0150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18621100" y="9388400"/>
            <a:ext cx="212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18117700" y="9167063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CF8F2"/>
                </a:solidFill>
              </a:rPr>
              <a:t>Fitness Score Formula</a:t>
            </a:r>
            <a:endParaRPr sz="1000">
              <a:solidFill>
                <a:srgbClr val="FCF8F2"/>
              </a:solidFill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17869659" y="9898100"/>
            <a:ext cx="2516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48" b="1">
                <a:solidFill>
                  <a:srgbClr val="60A5FA"/>
                </a:solidFill>
              </a:rPr>
              <a:t>● Yield (55%):</a:t>
            </a:r>
            <a:r>
              <a:rPr lang="en-US" sz="648">
                <a:solidFill>
                  <a:srgbClr val="CDD6E2"/>
                </a:solidFill>
              </a:rPr>
              <a:t> Aim to produce maximum living fish</a:t>
            </a:r>
            <a:endParaRPr sz="648">
              <a:solidFill>
                <a:srgbClr val="CDD6E2"/>
              </a:solidFill>
            </a:endParaRPr>
          </a:p>
          <a:p>
            <a:pPr marL="0" lvl="0" indent="0" algn="l" rtl="0">
              <a:spcBef>
                <a:spcPts val="517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48" b="1">
                <a:solidFill>
                  <a:srgbClr val="34D399"/>
                </a:solidFill>
              </a:rPr>
              <a:t>● Saving_Rate (33%):</a:t>
            </a:r>
            <a:r>
              <a:rPr lang="en-US" sz="648">
                <a:solidFill>
                  <a:srgbClr val="CDD6E2"/>
                </a:solidFill>
              </a:rPr>
              <a:t> Spend as little as possible</a:t>
            </a:r>
            <a:endParaRPr sz="648">
              <a:solidFill>
                <a:srgbClr val="CDD6E2"/>
              </a:solidFill>
            </a:endParaRPr>
          </a:p>
          <a:p>
            <a:pPr marL="0" lvl="0" indent="0" algn="l" rtl="0">
              <a:spcBef>
                <a:spcPts val="517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48" b="1">
                <a:solidFill>
                  <a:srgbClr val="F87171"/>
                </a:solidFill>
              </a:rPr>
              <a:t>● Healthiness (12%):</a:t>
            </a:r>
            <a:r>
              <a:rPr lang="en-US" sz="648">
                <a:solidFill>
                  <a:srgbClr val="CDD6E2"/>
                </a:solidFill>
              </a:rPr>
              <a:t> Survivors should be in good condition</a:t>
            </a:r>
            <a:endParaRPr/>
          </a:p>
        </p:txBody>
      </p:sp>
      <p:sp>
        <p:nvSpPr>
          <p:cNvPr id="187" name="Google Shape;187;p2"/>
          <p:cNvSpPr txBox="1"/>
          <p:nvPr/>
        </p:nvSpPr>
        <p:spPr>
          <a:xfrm>
            <a:off x="17862350" y="9464300"/>
            <a:ext cx="25167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6" b="1">
                <a:solidFill>
                  <a:srgbClr val="F3F0DF"/>
                </a:solidFill>
              </a:rPr>
              <a:t>Fitness = </a:t>
            </a:r>
            <a:r>
              <a:rPr lang="en-US" sz="1136" b="1">
                <a:solidFill>
                  <a:srgbClr val="60A5FA"/>
                </a:solidFill>
              </a:rPr>
              <a:t>0.55</a:t>
            </a:r>
            <a:r>
              <a:rPr lang="en-US" sz="1136" b="1">
                <a:solidFill>
                  <a:srgbClr val="F3F0DF"/>
                </a:solidFill>
              </a:rPr>
              <a:t> × Yield + </a:t>
            </a:r>
            <a:r>
              <a:rPr lang="en-US" sz="1136" b="1">
                <a:solidFill>
                  <a:srgbClr val="34D399"/>
                </a:solidFill>
              </a:rPr>
              <a:t>0.33</a:t>
            </a:r>
            <a:r>
              <a:rPr lang="en-US" sz="1136" b="1">
                <a:solidFill>
                  <a:srgbClr val="F3F0DF"/>
                </a:solidFill>
              </a:rPr>
              <a:t> × Saving_Rate + </a:t>
            </a:r>
            <a:r>
              <a:rPr lang="en-US" sz="1136" b="1">
                <a:solidFill>
                  <a:srgbClr val="F87171"/>
                </a:solidFill>
              </a:rPr>
              <a:t>0.12</a:t>
            </a:r>
            <a:r>
              <a:rPr lang="en-US" sz="1136" b="1">
                <a:solidFill>
                  <a:srgbClr val="F3F0DF"/>
                </a:solidFill>
              </a:rPr>
              <a:t> × Healthiness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14618475" y="9543525"/>
            <a:ext cx="28233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Quantifies performance through weighted sum of biological yield, economic savings, and average swarm health.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pic>
        <p:nvPicPr>
          <p:cNvPr id="189" name="Google Shape;189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2700" y="16098628"/>
            <a:ext cx="5170200" cy="2972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T PresPosterformat">
  <a:themeElements>
    <a:clrScheme name="Custom 3">
      <a:dk1>
        <a:srgbClr val="000000"/>
      </a:dk1>
      <a:lt1>
        <a:srgbClr val="FFFFFF"/>
      </a:lt1>
      <a:dk2>
        <a:srgbClr val="4E5B6F"/>
      </a:dk2>
      <a:lt2>
        <a:srgbClr val="CCCC99"/>
      </a:lt2>
      <a:accent1>
        <a:srgbClr val="7FD13B"/>
      </a:accent1>
      <a:accent2>
        <a:srgbClr val="EA157A"/>
      </a:accent2>
      <a:accent3>
        <a:srgbClr val="FF9933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DM Sans</vt:lpstr>
      <vt:lpstr>UT PresPosterformat</vt:lpstr>
      <vt:lpstr>AquaOptima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Charles Thomas</dc:creator>
  <cp:lastModifiedBy>Phu Hoang</cp:lastModifiedBy>
  <cp:revision>1</cp:revision>
  <dcterms:created xsi:type="dcterms:W3CDTF">2012-04-03T13:12:42Z</dcterms:created>
  <dcterms:modified xsi:type="dcterms:W3CDTF">2026-04-28T17:58:38Z</dcterms:modified>
</cp:coreProperties>
</file>